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2" r:id="rId5"/>
    <p:sldMasterId id="214748366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713F2B-41C3-438E-B76B-B1562E18DDF1}">
  <a:tblStyle styleId="{11713F2B-41C3-438E-B76B-B1562E18DD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A221AE9-5334-4080-882B-D0E7FB55131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0930caf90_2_10:notes"/>
          <p:cNvSpPr/>
          <p:nvPr>
            <p:ph idx="2" type="sldImg"/>
          </p:nvPr>
        </p:nvSpPr>
        <p:spPr>
          <a:xfrm>
            <a:off x="508000" y="685800"/>
            <a:ext cx="812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g3d0930caf90_2_10:notes"/>
          <p:cNvSpPr txBox="1"/>
          <p:nvPr>
            <p:ph idx="1" type="body"/>
          </p:nvPr>
        </p:nvSpPr>
        <p:spPr>
          <a:xfrm>
            <a:off x="914400" y="4343400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0930caf90_2_22:notes"/>
          <p:cNvSpPr/>
          <p:nvPr>
            <p:ph idx="2" type="sldImg"/>
          </p:nvPr>
        </p:nvSpPr>
        <p:spPr>
          <a:xfrm>
            <a:off x="508000" y="685800"/>
            <a:ext cx="812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3d0930caf90_2_22:notes"/>
          <p:cNvSpPr txBox="1"/>
          <p:nvPr>
            <p:ph idx="1" type="body"/>
          </p:nvPr>
        </p:nvSpPr>
        <p:spPr>
          <a:xfrm>
            <a:off x="914400" y="4343400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0930caf90_2_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g3d0930caf90_2_3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g3d0930caf90_2_3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930caf90_2_6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g3d0930caf90_2_6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d0930caf90_2_6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0930caf90_2_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g3d0930caf90_2_8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d0930caf90_2_8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0930caf90_2_1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g3d0930caf90_2_10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d0930caf90_2_10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0930caf90_2_1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g3d0930caf90_2_143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d0930caf90_2_143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0930caf90_2_16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g3d0930caf90_2_16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g3d0930caf90_2_16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0930caf90_2_17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g3d0930caf90_2_17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d0930caf90_2_17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0930caf90_2_2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g3d0930caf90_2_232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d0930caf90_2_232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0930caf90_2_2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g3d0930caf90_2_257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d0930caf90_2_257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0930caf90_2_2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g3d0930caf90_2_275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d0930caf90_2_275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0930caf90_2_29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g3d0930caf90_2_299:notes"/>
          <p:cNvSpPr txBox="1"/>
          <p:nvPr>
            <p:ph idx="1" type="body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3d0930caf90_2_299:notes"/>
          <p:cNvSpPr txBox="1"/>
          <p:nvPr>
            <p:ph idx="12" type="sldNum"/>
          </p:nvPr>
        </p:nvSpPr>
        <p:spPr>
          <a:xfrm>
            <a:off x="0" y="0"/>
            <a:ext cx="4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b="0" i="0" sz="5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Arial"/>
              <a:buNone/>
              <a:defRPr sz="5200"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 sz="1800"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bls.gov/news.release/pdf/jltst.pdf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10467"/>
            <a:ext cx="9144000" cy="2509200"/>
          </a:xfrm>
          <a:prstGeom prst="rect">
            <a:avLst/>
          </a:prstGeom>
          <a:solidFill>
            <a:srgbClr val="F7F5F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7"/>
          <p:cNvSpPr/>
          <p:nvPr/>
        </p:nvSpPr>
        <p:spPr>
          <a:xfrm>
            <a:off x="5608" y="2509125"/>
            <a:ext cx="9144000" cy="2578200"/>
          </a:xfrm>
          <a:prstGeom prst="rect">
            <a:avLst/>
          </a:prstGeom>
          <a:solidFill>
            <a:srgbClr val="C4633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 txBox="1"/>
          <p:nvPr>
            <p:ph type="ctrTitle"/>
          </p:nvPr>
        </p:nvSpPr>
        <p:spPr>
          <a:xfrm>
            <a:off x="427225" y="2757026"/>
            <a:ext cx="85206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eorgia"/>
              <a:buNone/>
            </a:pPr>
            <a:r>
              <a:rPr lang="en-GB" sz="328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Explainability AI Hackathon</a:t>
            </a:r>
            <a:endParaRPr sz="328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" name="Google Shape;67;p17"/>
          <p:cNvSpPr txBox="1"/>
          <p:nvPr>
            <p:ph idx="1" type="subTitle"/>
          </p:nvPr>
        </p:nvSpPr>
        <p:spPr>
          <a:xfrm>
            <a:off x="229883" y="3569414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72043"/>
              <a:buNone/>
            </a:pPr>
            <a:r>
              <a:rPr lang="en-GB" sz="2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Frugal and Explainable AI</a:t>
            </a:r>
            <a:br>
              <a:rPr lang="en-GB" sz="2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GB" sz="2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21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Group 3</a:t>
            </a:r>
            <a:endParaRPr sz="21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artificial intelligence icon vector. Isolated contour symbol illustration (Do Getty Images cung cấp)" id="68" name="Google Shape;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5240" y="44745"/>
            <a:ext cx="1119939" cy="11199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tificial intelligence icon vector. Isolated contour symbol illustration (Do Getty Images cung cấp)" id="69" name="Google Shape;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7721" y="-36287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rtificial intelligence icon vector. Isolated contour symbol illustration (Do Getty Images cung cấp)" id="70" name="Google Shape;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65178" y="182361"/>
            <a:ext cx="892728" cy="89272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/>
          <p:nvPr/>
        </p:nvSpPr>
        <p:spPr>
          <a:xfrm>
            <a:off x="2883475" y="4407777"/>
            <a:ext cx="35034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050" u="none" cap="none" strike="noStrik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Hackathon Explainability AI - ESILV A4 - March 2026</a:t>
            </a:r>
            <a:endParaRPr b="0" i="0" sz="105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" name="Google Shape;72;p17"/>
          <p:cNvSpPr txBox="1"/>
          <p:nvPr>
            <p:ph type="ctrTitle"/>
          </p:nvPr>
        </p:nvSpPr>
        <p:spPr>
          <a:xfrm>
            <a:off x="2463508" y="943048"/>
            <a:ext cx="41667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1495"/>
              <a:buFont typeface="Georgia"/>
              <a:buNone/>
            </a:pPr>
            <a:r>
              <a:rPr b="1" lang="en-GB" sz="4280">
                <a:latin typeface="Georgia"/>
                <a:ea typeface="Georgia"/>
                <a:cs typeface="Georgia"/>
                <a:sym typeface="Georgia"/>
              </a:rPr>
              <a:t>TalentGuard</a:t>
            </a:r>
            <a:endParaRPr b="1" sz="428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17"/>
          <p:cNvSpPr txBox="1"/>
          <p:nvPr>
            <p:ph type="ctrTitle"/>
          </p:nvPr>
        </p:nvSpPr>
        <p:spPr>
          <a:xfrm>
            <a:off x="480475" y="1840333"/>
            <a:ext cx="83094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Georgia"/>
              <a:buNone/>
            </a:pPr>
            <a:r>
              <a:rPr b="1" i="1" lang="en-GB" sz="1652">
                <a:latin typeface="Georgia"/>
                <a:ea typeface="Georgia"/>
                <a:cs typeface="Georgia"/>
                <a:sym typeface="Georgia"/>
              </a:rPr>
              <a:t>An agile, explainable AI platform designed to deconstruct</a:t>
            </a:r>
            <a:endParaRPr b="1" i="1" sz="1652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Georgia"/>
              <a:buNone/>
            </a:pPr>
            <a:r>
              <a:rPr b="1" i="1" lang="en-GB" sz="1652">
                <a:latin typeface="Georgia"/>
                <a:ea typeface="Georgia"/>
                <a:cs typeface="Georgia"/>
                <a:sym typeface="Georgia"/>
              </a:rPr>
              <a:t> the 'black box' of employee attrition.</a:t>
            </a:r>
            <a:endParaRPr b="1" i="1" sz="1652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5F0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3361747" y="432400"/>
            <a:ext cx="239523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0707"/>
              <a:buFont typeface="Georgia"/>
              <a:buNone/>
            </a:pPr>
            <a:r>
              <a:rPr lang="en-GB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Our team</a:t>
            </a:r>
            <a:endParaRPr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smiling   happy  face (Do Getty Images cung cấp)" id="80" name="Google Shape;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225" y="1791675"/>
            <a:ext cx="1191373" cy="119137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8"/>
          <p:cNvSpPr txBox="1"/>
          <p:nvPr/>
        </p:nvSpPr>
        <p:spPr>
          <a:xfrm>
            <a:off x="2187782" y="3201376"/>
            <a:ext cx="143565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Ziyad Briand</a:t>
            </a:r>
            <a:endParaRPr b="1" i="0" sz="1400" u="none" cap="none" strike="noStrike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happy  face  smiling (Do Getty Images cung cấp)" id="82" name="Google Shape;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2975" y="1828238"/>
            <a:ext cx="1118249" cy="11182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/>
          <p:nvPr/>
        </p:nvSpPr>
        <p:spPr>
          <a:xfrm>
            <a:off x="369962" y="3201376"/>
            <a:ext cx="1523835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Alvaro Serero</a:t>
            </a:r>
            <a:endParaRPr b="1" i="0" sz="1400" u="none" cap="none" strike="noStrike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smiling   happy  face (Do Getty Images cung cấp)" id="84" name="Google Shape;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49687" y="1828238"/>
            <a:ext cx="1019351" cy="101935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4045730" y="3201376"/>
            <a:ext cx="147484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Omar Bari</a:t>
            </a:r>
            <a:endParaRPr b="1" i="0" sz="1400" u="none" cap="none" strike="noStrike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happy  glad  face (Do Getty Images cung cấp)" id="86" name="Google Shape;8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37500" y="1778785"/>
            <a:ext cx="1118249" cy="11182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5811214" y="3201376"/>
            <a:ext cx="1311075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Le Nguyen</a:t>
            </a:r>
            <a:endParaRPr b="1" i="0" sz="1400" u="none" cap="none" strike="noStrike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descr="kiss  face  emoji (Do Getty Images cung cấp)" id="88" name="Google Shape;8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47125" y="1778736"/>
            <a:ext cx="1118403" cy="111837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7617828" y="3201376"/>
            <a:ext cx="94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rPr>
              <a:t>Rithiga </a:t>
            </a:r>
            <a:endParaRPr b="1" i="0" sz="1400" u="none" cap="none" strike="noStrike">
              <a:solidFill>
                <a:schemeClr val="accent2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538921" y="220880"/>
            <a:ext cx="6400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Georgia"/>
              <a:buNone/>
            </a:pPr>
            <a:r>
              <a:rPr b="1" i="0" lang="en-GB" sz="28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What's the problem?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538921" y="665721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Context and use 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538921" y="985761"/>
            <a:ext cx="1645800" cy="27300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8336837" y="4836278"/>
            <a:ext cx="4479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882"/>
              <a:buFont typeface="Calibri"/>
              <a:buNone/>
            </a:pPr>
            <a:r>
              <a:rPr b="0" i="0" lang="en-GB" sz="881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8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9"/>
          <p:cNvSpPr/>
          <p:nvPr/>
        </p:nvSpPr>
        <p:spPr>
          <a:xfrm>
            <a:off x="531325" y="1234002"/>
            <a:ext cx="3144600" cy="275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538926" y="1246450"/>
            <a:ext cx="46200" cy="2738400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718672" y="134131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 company is losing people.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661525" y="1755018"/>
            <a:ext cx="2884200" cy="18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50"/>
              <a:buFont typeface="Calibri"/>
              <a:buNone/>
            </a:pPr>
            <a:r>
              <a:rPr lang="en-GB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</a:t>
            </a:r>
            <a:r>
              <a:rPr b="1" lang="en-GB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r>
            <a:r>
              <a:rPr b="1" i="0" lang="en-GB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</a:t>
            </a:r>
            <a:r>
              <a:rPr b="0" i="0" lang="en-GB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turnover rate </a:t>
            </a:r>
            <a:r>
              <a:rPr lang="en-GB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2023</a:t>
            </a:r>
            <a:r>
              <a:rPr b="0" i="0" lang="en-GB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HR wants to understand who is leaving, why, and what they can actually 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-"/>
            </a:pPr>
            <a:r>
              <a:rPr lang="en-GB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79% in Accomodation and food service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-"/>
            </a:pPr>
            <a:r>
              <a:rPr lang="en-GB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57% in </a:t>
            </a:r>
            <a:r>
              <a:rPr lang="en-GB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r>
              <a:rPr lang="en-GB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service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-"/>
            </a:pPr>
            <a:r>
              <a:rPr lang="en-GB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54% in Construction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Char char="-"/>
            </a:pPr>
            <a:r>
              <a:rPr lang="en-GB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39% in Health care and social assistance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3870250" y="1216550"/>
            <a:ext cx="4861800" cy="2751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3861550" y="1216550"/>
            <a:ext cx="46200" cy="2738400"/>
          </a:xfrm>
          <a:prstGeom prst="rect">
            <a:avLst/>
          </a:prstGeom>
          <a:solidFill>
            <a:srgbClr val="7B8F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4102087" y="1331714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Georgia"/>
              <a:buNone/>
            </a:pPr>
            <a:r>
              <a:rPr b="1" i="0" lang="en-GB" sz="1400" u="none" cap="none" strike="noStrike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Who is this for?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574250" y="4116649"/>
            <a:ext cx="1881300" cy="729300"/>
          </a:xfrm>
          <a:prstGeom prst="rect">
            <a:avLst/>
          </a:prstGeom>
          <a:solidFill>
            <a:srgbClr val="FFFFFF"/>
          </a:solidFill>
          <a:ln cap="flat" cmpd="sng" w="93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575" lIns="89575" spcFirstLastPara="1" rIns="89575" wrap="square" tIns="8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481324" y="4086147"/>
            <a:ext cx="18813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2351"/>
              <a:buFont typeface="Georgia"/>
              <a:buNone/>
            </a:pPr>
            <a:r>
              <a:rPr b="1" i="0" lang="en-GB" sz="2351" u="none" cap="none" strike="noStrike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~400</a:t>
            </a:r>
            <a:endParaRPr b="0" i="0" sz="23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574276" y="4487569"/>
            <a:ext cx="1881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80"/>
              <a:buFont typeface="Calibri"/>
              <a:buNone/>
            </a:pPr>
            <a:r>
              <a:rPr b="0" i="0" lang="en-GB" sz="979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employees in dataset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/>
          <p:nvPr/>
        </p:nvSpPr>
        <p:spPr>
          <a:xfrm>
            <a:off x="2634550" y="4116750"/>
            <a:ext cx="1881300" cy="729300"/>
          </a:xfrm>
          <a:prstGeom prst="rect">
            <a:avLst/>
          </a:prstGeom>
          <a:solidFill>
            <a:srgbClr val="FFFFFF"/>
          </a:solidFill>
          <a:ln cap="flat" cmpd="sng" w="93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575" lIns="89575" spcFirstLastPara="1" rIns="89575" wrap="square" tIns="8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2634538" y="4167458"/>
            <a:ext cx="18813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2351"/>
              <a:buFont typeface="Georgia"/>
              <a:buNone/>
            </a:pPr>
            <a:r>
              <a:rPr b="1" lang="en-GB" sz="2351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~41</a:t>
            </a:r>
            <a:r>
              <a:rPr b="1" i="0" lang="en-GB" sz="2351" u="none" cap="none" strike="noStrike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%</a:t>
            </a:r>
            <a:endParaRPr b="0" i="0" sz="23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2634538" y="4534032"/>
            <a:ext cx="1881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80"/>
              <a:buFont typeface="Calibri"/>
              <a:buNone/>
            </a:pPr>
            <a:r>
              <a:rPr b="0" i="0" lang="en-GB" sz="979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turnover rate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9"/>
          <p:cNvSpPr/>
          <p:nvPr/>
        </p:nvSpPr>
        <p:spPr>
          <a:xfrm>
            <a:off x="4694825" y="4116699"/>
            <a:ext cx="1881300" cy="729300"/>
          </a:xfrm>
          <a:prstGeom prst="rect">
            <a:avLst/>
          </a:prstGeom>
          <a:solidFill>
            <a:srgbClr val="FFFFFF"/>
          </a:solidFill>
          <a:ln cap="flat" cmpd="sng" w="93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575" lIns="89575" spcFirstLastPara="1" rIns="89575" wrap="square" tIns="8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4706442" y="4144226"/>
            <a:ext cx="18813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2351"/>
              <a:buFont typeface="Georgia"/>
              <a:buNone/>
            </a:pPr>
            <a:r>
              <a:rPr b="1" i="0" lang="en-GB" sz="2351" u="none" cap="none" strike="noStrike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30+</a:t>
            </a:r>
            <a:endParaRPr b="0" i="0" sz="23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4694826" y="4545648"/>
            <a:ext cx="1881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80"/>
              <a:buFont typeface="Calibri"/>
              <a:buNone/>
            </a:pPr>
            <a:r>
              <a:rPr b="0" i="0" lang="en-GB" sz="979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6755125" y="4116699"/>
            <a:ext cx="1881300" cy="729300"/>
          </a:xfrm>
          <a:prstGeom prst="rect">
            <a:avLst/>
          </a:prstGeom>
          <a:solidFill>
            <a:srgbClr val="FFFFFF"/>
          </a:solidFill>
          <a:ln cap="flat" cmpd="sng" w="93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575" lIns="89575" spcFirstLastPara="1" rIns="89575" wrap="square" tIns="89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1"/>
          </a:p>
        </p:txBody>
      </p:sp>
      <p:sp>
        <p:nvSpPr>
          <p:cNvPr id="116" name="Google Shape;116;p19"/>
          <p:cNvSpPr/>
          <p:nvPr/>
        </p:nvSpPr>
        <p:spPr>
          <a:xfrm>
            <a:off x="6755114" y="4144226"/>
            <a:ext cx="18813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2351"/>
              <a:buFont typeface="Georgia"/>
              <a:buNone/>
            </a:pPr>
            <a:r>
              <a:rPr b="1" i="0" lang="en-GB" sz="2351" u="none" cap="none" strike="noStrike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3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755114" y="4545648"/>
            <a:ext cx="18813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80"/>
              <a:buFont typeface="Calibri"/>
              <a:buNone/>
            </a:pPr>
            <a:r>
              <a:rPr b="0" i="0" lang="en-GB" sz="979" u="none" cap="none" strike="noStrike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Trusted AI themes</a:t>
            </a:r>
            <a:endParaRPr b="0" i="0" sz="97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8" name="Google Shape;118;p19"/>
          <p:cNvGraphicFramePr/>
          <p:nvPr/>
        </p:nvGraphicFramePr>
        <p:xfrm>
          <a:off x="4102075" y="17646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{11713F2B-41C3-438E-B76B-B1562E18DDF1}</a:tableStyleId>
              </a:tblPr>
              <a:tblGrid>
                <a:gridCol w="1469200"/>
                <a:gridCol w="1469200"/>
                <a:gridCol w="1469200"/>
              </a:tblGrid>
              <a:tr h="396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Stakeholder</a:t>
                      </a:r>
                      <a:endParaRPr b="1"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Use Case</a:t>
                      </a:r>
                      <a:endParaRPr b="1"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Key Benefit</a:t>
                      </a:r>
                      <a:endParaRPr b="1"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</a:tr>
              <a:tr h="54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HR Manager</a:t>
                      </a:r>
                      <a:endParaRPr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Uses the Dashboard</a:t>
                      </a:r>
                      <a:endParaRPr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Tailored retention strategies for individuals.</a:t>
                      </a:r>
                      <a:endParaRPr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</a:tr>
              <a:tr h="54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Department Head</a:t>
                      </a:r>
                      <a:endParaRPr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Reviews Global Trends</a:t>
                      </a:r>
                      <a:endParaRPr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Fixes department-wide culture issues.</a:t>
                      </a:r>
                      <a:endParaRPr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ED"/>
                    </a:solidFill>
                  </a:tcPr>
                </a:tc>
              </a:tr>
              <a:tr h="543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Employee</a:t>
                      </a:r>
                      <a:endParaRPr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View Individual profile with suggested actions</a:t>
                      </a:r>
                      <a:endParaRPr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Gets proactive support before burning out.</a:t>
                      </a:r>
                      <a:endParaRPr sz="900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19"/>
          <p:cNvSpPr/>
          <p:nvPr/>
        </p:nvSpPr>
        <p:spPr>
          <a:xfrm>
            <a:off x="718675" y="3441938"/>
            <a:ext cx="26028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50"/>
              <a:buFont typeface="Calibri"/>
              <a:buNone/>
            </a:pPr>
            <a:r>
              <a:rPr lang="en-GB" sz="11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r>
              <a:rPr lang="en-GB" sz="9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GB" sz="1000" u="sng">
                <a:solidFill>
                  <a:srgbClr val="06615A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U.S. Bureau of Labor Statistics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Georgia"/>
              <a:buNone/>
            </a:pPr>
            <a:r>
              <a:rPr b="1" lang="en-GB" sz="28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Our approach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Two themes from Trusted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548640" y="1143000"/>
            <a:ext cx="1645920" cy="2743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548640" y="1614789"/>
            <a:ext cx="384060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0"/>
          <p:cNvSpPr/>
          <p:nvPr/>
        </p:nvSpPr>
        <p:spPr>
          <a:xfrm>
            <a:off x="548640" y="1614789"/>
            <a:ext cx="54900" cy="2286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777240" y="1706229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600"/>
              <a:buFont typeface="Georgia"/>
              <a:buNone/>
            </a:pPr>
            <a:r>
              <a:rPr b="1" lang="en-GB" sz="1600">
                <a:solidFill>
                  <a:srgbClr val="4A6FA5"/>
                </a:solidFill>
                <a:latin typeface="Georgia"/>
                <a:ea typeface="Georgia"/>
                <a:cs typeface="Georgia"/>
                <a:sym typeface="Georgia"/>
              </a:rPr>
              <a:t>Explainable AI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777240" y="2117709"/>
            <a:ext cx="3383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00"/>
              <a:buFont typeface="Calibri"/>
              <a:buNone/>
            </a:pP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prediction comes with a reason. We use SHAP to show which factors matter — globally and per employee. The HR manager gets plain-language explanations, not a black box.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00"/>
              <a:buFont typeface="Calibri"/>
              <a:buNone/>
            </a:pP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also a legal requirement: AI Act Article 13 mandates explainability for High Risk HR systems.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754880" y="1614789"/>
            <a:ext cx="3840600" cy="2286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4754880" y="1614789"/>
            <a:ext cx="54900" cy="2286000"/>
          </a:xfrm>
          <a:prstGeom prst="rect">
            <a:avLst/>
          </a:prstGeom>
          <a:solidFill>
            <a:srgbClr val="7B8F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0"/>
          <p:cNvSpPr/>
          <p:nvPr/>
        </p:nvSpPr>
        <p:spPr>
          <a:xfrm>
            <a:off x="4983480" y="1706229"/>
            <a:ext cx="3383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F6B"/>
              </a:buClr>
              <a:buSzPts val="1600"/>
              <a:buFont typeface="Georgia"/>
              <a:buNone/>
            </a:pPr>
            <a:r>
              <a:rPr b="1" lang="en-GB" sz="1600">
                <a:solidFill>
                  <a:srgbClr val="7B8F6B"/>
                </a:solidFill>
                <a:latin typeface="Georgia"/>
                <a:ea typeface="Georgia"/>
                <a:cs typeface="Georgia"/>
                <a:sym typeface="Georgia"/>
              </a:rPr>
              <a:t>Frugal AI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983480" y="2019649"/>
            <a:ext cx="3383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00"/>
              <a:buFont typeface="Calibri"/>
              <a:buNone/>
            </a:pP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compared 4 models on accuracy AND carbon cost. Our pick: Logistic Regression — it gets 99%+ of the best model's F1 while being 180× lighter on CO₂.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00"/>
              <a:buFont typeface="Calibri"/>
              <a:buNone/>
            </a:pPr>
            <a:r>
              <a:rPr b="1" lang="en-GB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Carbon tracked with CodeCarbon. No GPU. Runs on a laptop in under 10 seconds.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548640" y="4251945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i="1"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We also cover GDPR compliance (anonymization, sensitive data separation) and algorithmic fairness (Disparate Impact audit) — details on slide 9.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Georgia"/>
              <a:buNone/>
            </a:pPr>
            <a:r>
              <a:rPr b="1" lang="en-GB" sz="28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data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What we're working with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548640" y="1143000"/>
            <a:ext cx="1645920" cy="2743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548640" y="1417320"/>
            <a:ext cx="384048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548640" y="1417320"/>
            <a:ext cx="54864" cy="2926080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1"/>
          <p:cNvSpPr/>
          <p:nvPr/>
        </p:nvSpPr>
        <p:spPr>
          <a:xfrm>
            <a:off x="777240" y="15087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Georgia"/>
              <a:buNone/>
            </a:pPr>
            <a:r>
              <a:rPr b="1" lang="en-GB" sz="15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Dataset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777240" y="1920240"/>
            <a:ext cx="3383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Calibri"/>
              <a:buNone/>
            </a:pPr>
            <a:r>
              <a:rPr b="1" lang="en-GB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Kaggle HR Dataset (Rich Huebner)</a:t>
            </a:r>
            <a:b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Size: </a:t>
            </a: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~400 synthetic employee records</a:t>
            </a:r>
            <a:b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Target: </a:t>
            </a: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Termd — 0 = still here, 1 = left</a:t>
            </a:r>
            <a:b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Sensitive: </a:t>
            </a: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Sex, RaceDesc, </a:t>
            </a: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Hispanic, Latino</a:t>
            </a:r>
            <a:b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GB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We also generated synthetic text data:</a:t>
            </a:r>
            <a:br>
              <a:rPr b="1" lang="en-GB" sz="11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Exit interviews, satisfaction surveys, internal transfer requests. Analyzed with TF-IDF + sentiment scoring.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4754880" y="1417320"/>
            <a:ext cx="384048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4754880" y="1417320"/>
            <a:ext cx="54864" cy="2926080"/>
          </a:xfrm>
          <a:prstGeom prst="rect">
            <a:avLst/>
          </a:prstGeom>
          <a:solidFill>
            <a:srgbClr val="7B8F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/>
          <p:nvPr/>
        </p:nvSpPr>
        <p:spPr>
          <a:xfrm>
            <a:off x="4983480" y="15087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500"/>
              <a:buFont typeface="Georgia"/>
              <a:buNone/>
            </a:pPr>
            <a:r>
              <a:rPr b="1" lang="en-GB" sz="15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GDPR — what we did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4983480" y="196596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Georgia"/>
              <a:buNone/>
            </a:pPr>
            <a:r>
              <a:rPr b="1" lang="en-GB" sz="11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Suppression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4983480" y="216712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Removed names, emails, ZIP, State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4983480" y="2441448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Georgia"/>
              <a:buNone/>
            </a:pPr>
            <a:r>
              <a:rPr b="1" lang="en-GB" sz="11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Pseudonymization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4983480" y="264261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EmpID → SHA-256 hash (8 chars)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4983480" y="2916936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Georgia"/>
              <a:buNone/>
            </a:pPr>
            <a:r>
              <a:rPr b="1" lang="en-GB" sz="11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Generalization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4983480" y="3118104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DOB → age group (20s, 30s, 40s…)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4983480" y="3392424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Georgia"/>
              <a:buNone/>
            </a:pPr>
            <a:r>
              <a:rPr b="1" lang="en-GB" sz="11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Aggregation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4983480" y="359359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Hire + Term dates → tenure_days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4983480" y="3867912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Georgia"/>
              <a:buNone/>
            </a:pPr>
            <a:r>
              <a:rPr b="1" lang="en-GB" sz="11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Sensitive split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4983480" y="4069080"/>
            <a:ext cx="3383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Sex, Race → separate file, bias audit only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Georgia"/>
              <a:buNone/>
            </a:pPr>
            <a:r>
              <a:rPr b="1" lang="en-GB" sz="28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How it works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End-to-end pipeline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2"/>
          <p:cNvSpPr/>
          <p:nvPr/>
        </p:nvSpPr>
        <p:spPr>
          <a:xfrm>
            <a:off x="548640" y="1143000"/>
            <a:ext cx="1645920" cy="2743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2"/>
          <p:cNvSpPr/>
          <p:nvPr/>
        </p:nvSpPr>
        <p:spPr>
          <a:xfrm>
            <a:off x="182880" y="1463040"/>
            <a:ext cx="15544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274320" y="15361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lang="en-GB" sz="12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Raw CSV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274320" y="1901952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~400 records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30+ columns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2"/>
          <p:cNvSpPr/>
          <p:nvPr/>
        </p:nvSpPr>
        <p:spPr>
          <a:xfrm>
            <a:off x="1965960" y="1463040"/>
            <a:ext cx="15544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2057400" y="15361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lang="en-GB" sz="12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Preprocessing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2057400" y="1901952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Anonymize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 eng.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3749040" y="1463040"/>
            <a:ext cx="15544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2"/>
          <p:cNvSpPr/>
          <p:nvPr/>
        </p:nvSpPr>
        <p:spPr>
          <a:xfrm>
            <a:off x="3840480" y="15361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lang="en-GB" sz="12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Model training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3840480" y="1901952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CodeCarbon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5532120" y="1463040"/>
            <a:ext cx="15544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5623560" y="15361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lang="en-GB" sz="12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SHAP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5623560" y="1901952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+ local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7315200" y="1463040"/>
            <a:ext cx="155448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7406640" y="153619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Georgia"/>
              <a:buNone/>
            </a:pPr>
            <a:r>
              <a:rPr b="1" lang="en-GB" sz="12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7406640" y="1901952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scores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Plain language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1648348" y="1828810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800"/>
              <a:buFont typeface="Calibri"/>
              <a:buNone/>
            </a:pPr>
            <a:r>
              <a:rPr lang="en-GB" sz="1800">
                <a:solidFill>
                  <a:srgbClr val="C4633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3427719" y="1821652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800"/>
              <a:buFont typeface="Calibri"/>
              <a:buNone/>
            </a:pPr>
            <a:r>
              <a:rPr lang="en-GB" sz="1800">
                <a:solidFill>
                  <a:srgbClr val="C4633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5212083" y="1828810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800"/>
              <a:buFont typeface="Calibri"/>
              <a:buNone/>
            </a:pPr>
            <a:r>
              <a:rPr lang="en-GB" sz="1800">
                <a:solidFill>
                  <a:srgbClr val="C4633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6996425" y="1821660"/>
            <a:ext cx="41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800"/>
              <a:buFont typeface="Calibri"/>
              <a:buNone/>
            </a:pPr>
            <a:r>
              <a:rPr lang="en-GB" sz="1800">
                <a:solidFill>
                  <a:srgbClr val="C4633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548640" y="3063240"/>
            <a:ext cx="25603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685800" y="31272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200"/>
              <a:buFont typeface="Georgia"/>
              <a:buNone/>
            </a:pPr>
            <a:r>
              <a:rPr b="1" lang="en-GB" sz="12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Key outputs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685800" y="34290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hr_anonymized.csv → model input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hr_sensitive.csv → bias audit only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3337560" y="3063240"/>
            <a:ext cx="25603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3474720" y="31272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200"/>
              <a:buFont typeface="Georgia"/>
              <a:buNone/>
            </a:pPr>
            <a:r>
              <a:rPr b="1" lang="en-GB" sz="12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Tech stack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3474720" y="34290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3.10+, Scikit-learn,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XGBoost, SHAP, CodeCarbon,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6126480" y="3063240"/>
            <a:ext cx="2560320" cy="1234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6263640" y="31272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200"/>
              <a:buFont typeface="Georgia"/>
              <a:buNone/>
            </a:pPr>
            <a:r>
              <a:rPr b="1" lang="en-GB" sz="12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Why batch?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6263640" y="34290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HR reviews are monthly,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real-time. Keeps infra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minimal and costs near zero.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Georgia"/>
              <a:buNone/>
            </a:pPr>
            <a:r>
              <a:rPr b="1" lang="en-GB" sz="28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Frugal AI — model comparison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Same accuracy, fraction of the cost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548640" y="1143000"/>
            <a:ext cx="1645920" cy="2743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8435712" y="4790471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23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{AA221AE9-5334-4080-882B-D0E7FB55131E}</a:tableStyleId>
              </a:tblPr>
              <a:tblGrid>
                <a:gridCol w="2475875"/>
                <a:gridCol w="1134800"/>
                <a:gridCol w="1031625"/>
                <a:gridCol w="1134800"/>
                <a:gridCol w="1134800"/>
                <a:gridCol w="1134800"/>
              </a:tblGrid>
              <a:tr h="591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ROC-AUC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Train time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CO₂ (g)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</a:tr>
              <a:tr h="591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633F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0.988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9.19s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0.0037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KB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</a:tr>
              <a:tr h="591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1.000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1.52s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0.0005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8.2 MB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ED"/>
                    </a:solidFill>
                  </a:tcPr>
                </a:tc>
              </a:tr>
              <a:tr h="591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0.994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0.988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6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 MB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23"/>
          <p:cNvSpPr/>
          <p:nvPr/>
        </p:nvSpPr>
        <p:spPr>
          <a:xfrm>
            <a:off x="537024" y="4790408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i="1" lang="en-GB" sz="1000">
                <a:solidFill>
                  <a:srgbClr val="F7F5F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i="1" lang="en-GB" sz="1000">
                <a:solidFill>
                  <a:srgbClr val="F7F5F0"/>
                </a:solidFill>
                <a:latin typeface="Calibri"/>
                <a:ea typeface="Calibri"/>
                <a:cs typeface="Calibri"/>
                <a:sym typeface="Calibri"/>
              </a:rPr>
              <a:t>ur pick base on Best accuracy-to-cost ratio is XGBoost with 1.1 MB model, ~0g CO₂, runs anywhere.</a:t>
            </a:r>
            <a:endParaRPr sz="1000">
              <a:solidFill>
                <a:srgbClr val="F7F5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48640" y="3958869"/>
            <a:ext cx="25602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685800" y="4004589"/>
            <a:ext cx="109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2200"/>
              <a:buFont typeface="Georgia"/>
              <a:buNone/>
            </a:pPr>
            <a:r>
              <a:rPr b="1" lang="en-GB" sz="22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99%+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1737360" y="4096029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of best model's performance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3337560" y="3958869"/>
            <a:ext cx="25602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3474720" y="4004589"/>
            <a:ext cx="109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2200"/>
              <a:buFont typeface="Georgia"/>
              <a:buNone/>
            </a:pPr>
            <a:r>
              <a:rPr b="1" lang="en-GB" sz="22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63.9%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4434837" y="4096049"/>
            <a:ext cx="137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more carbon-efficient </a:t>
            </a:r>
            <a:r>
              <a:rPr lang="en-GB" sz="10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than Logistic Regression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6114864" y="3958869"/>
            <a:ext cx="25602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6252024" y="4004589"/>
            <a:ext cx="1097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2200"/>
              <a:buFont typeface="Georgia"/>
              <a:buNone/>
            </a:pPr>
            <a:r>
              <a:rPr b="1" lang="en-GB" sz="22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1.1 MB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7303584" y="4096029"/>
            <a:ext cx="118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total model size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4"/>
          <p:cNvSpPr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Georgia"/>
              <a:buNone/>
            </a:pPr>
            <a:r>
              <a:rPr b="1" lang="en-GB" sz="28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Frugal AI — text analysis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No LLM needed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4"/>
          <p:cNvSpPr/>
          <p:nvPr/>
        </p:nvSpPr>
        <p:spPr>
          <a:xfrm>
            <a:off x="548640" y="1143000"/>
            <a:ext cx="1645920" cy="2743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24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{AA221AE9-5334-4080-882B-D0E7FB55131E}</a:tableStyleId>
              </a:tblPr>
              <a:tblGrid>
                <a:gridCol w="2194550"/>
                <a:gridCol w="914400"/>
                <a:gridCol w="1005850"/>
                <a:gridCol w="1005850"/>
                <a:gridCol w="1005850"/>
                <a:gridCol w="10972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Approach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Size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Speed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CO₂/req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Needs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A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633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GB" sz="1300" u="none" cap="none" strike="noStrike">
                          <a:solidFill>
                            <a:srgbClr val="C4633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TF-IDF + LogReg  ←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 KB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&lt;1 ms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0.0001g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~78%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only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2B2B2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BERT-base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~440 MB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 ms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~85%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GPU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84A3C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B84A3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 API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~2,000 ms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4.3g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~92%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6560"/>
                        </a:buClr>
                        <a:buSzPts val="1100"/>
                        <a:buFont typeface="Calibri"/>
                        <a:buNone/>
                      </a:pPr>
                      <a:r>
                        <a:rPr lang="en-GB" sz="1300" u="none" cap="none" strike="noStrike">
                          <a:solidFill>
                            <a:srgbClr val="6B656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+ $$$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4CFC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231;p24"/>
          <p:cNvSpPr/>
          <p:nvPr/>
        </p:nvSpPr>
        <p:spPr>
          <a:xfrm>
            <a:off x="548640" y="3474720"/>
            <a:ext cx="38404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548640" y="3474720"/>
            <a:ext cx="54864" cy="1143000"/>
          </a:xfrm>
          <a:prstGeom prst="rect">
            <a:avLst/>
          </a:prstGeom>
          <a:solidFill>
            <a:srgbClr val="7B8F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4"/>
          <p:cNvSpPr/>
          <p:nvPr/>
        </p:nvSpPr>
        <p:spPr>
          <a:xfrm>
            <a:off x="777240" y="354787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lang="en-GB" sz="13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point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777240" y="384048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~90% of GPT-4's accuracy at 1/43,000th the carbon. Fully offline, no API key, no cloud bill.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4754880" y="3474720"/>
            <a:ext cx="3840480" cy="114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/>
          <p:nvPr/>
        </p:nvSpPr>
        <p:spPr>
          <a:xfrm>
            <a:off x="4754880" y="3474720"/>
            <a:ext cx="54864" cy="11430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/>
          <p:nvPr/>
        </p:nvSpPr>
        <p:spPr>
          <a:xfrm>
            <a:off x="4983480" y="3547872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lang="en-GB" sz="13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What it analyzes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4983480" y="3840480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Exit interviews, satisfaction surveys, transfer requests. Sentiment scores feed into the per-employee risk profile.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Georgia"/>
              <a:buNone/>
            </a:pPr>
            <a:r>
              <a:rPr b="1" lang="en-GB" sz="28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Explainable AI — SHAP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Global and local explanations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48640" y="1143000"/>
            <a:ext cx="1645920" cy="2743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48650" y="1417325"/>
            <a:ext cx="3840600" cy="318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731520" y="15087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lang="en-GB" sz="13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What matters most overall?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731520" y="182880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50"/>
              <a:buFont typeface="Calibri"/>
              <a:buNone/>
            </a:pPr>
            <a:r>
              <a:rPr i="1" lang="en-GB" sz="9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Mean |SHAP| across all employees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731520" y="214884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Salary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1965960" y="2185416"/>
            <a:ext cx="1877568" cy="16459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3916680" y="214884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28%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731520" y="2450592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Tenure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1965960" y="2487168"/>
            <a:ext cx="1475232" cy="16459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3514344" y="2450592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22%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731520" y="2752344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Engagement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1965960" y="2788920"/>
            <a:ext cx="1207008" cy="16459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3246120" y="2752344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18%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731520" y="3054096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1965960" y="3090672"/>
            <a:ext cx="938784" cy="16459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5"/>
          <p:cNvSpPr/>
          <p:nvPr/>
        </p:nvSpPr>
        <p:spPr>
          <a:xfrm>
            <a:off x="2977896" y="3054096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14%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731520" y="335584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Absences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1965960" y="3392424"/>
            <a:ext cx="670560" cy="16459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2709672" y="335584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731520" y="365760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00"/>
              <a:buFont typeface="Calibri"/>
              <a:buNone/>
            </a:pPr>
            <a:r>
              <a:rPr lang="en-GB" sz="100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1965960" y="3694176"/>
            <a:ext cx="536448" cy="16459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5"/>
          <p:cNvSpPr/>
          <p:nvPr/>
        </p:nvSpPr>
        <p:spPr>
          <a:xfrm>
            <a:off x="2575560" y="3657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8%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4754875" y="1417325"/>
            <a:ext cx="3840600" cy="318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4937760" y="150876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lang="en-GB" sz="13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Example: Employee #3A8F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7589520" y="1508760"/>
            <a:ext cx="822960" cy="292608"/>
          </a:xfrm>
          <a:prstGeom prst="rect">
            <a:avLst/>
          </a:prstGeom>
          <a:solidFill>
            <a:srgbClr val="FCECEA"/>
          </a:solidFill>
          <a:ln cap="flat" cmpd="sng" w="12700">
            <a:solidFill>
              <a:srgbClr val="B84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5"/>
          <p:cNvSpPr/>
          <p:nvPr/>
        </p:nvSpPr>
        <p:spPr>
          <a:xfrm>
            <a:off x="7589520" y="1508760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4A3C"/>
              </a:buClr>
              <a:buSzPts val="1100"/>
              <a:buFont typeface="Calibri"/>
              <a:buNone/>
            </a:pPr>
            <a:r>
              <a:rPr b="1" lang="en-GB" sz="1100">
                <a:solidFill>
                  <a:srgbClr val="B84A3C"/>
                </a:solidFill>
                <a:latin typeface="Calibri"/>
                <a:ea typeface="Calibri"/>
                <a:cs typeface="Calibri"/>
                <a:sym typeface="Calibri"/>
              </a:rPr>
              <a:t>87%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4937760" y="1920240"/>
            <a:ext cx="3474720" cy="32004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5029200" y="193852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Salary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6858000" y="1938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4A3C"/>
              </a:buClr>
              <a:buSzPts val="1050"/>
              <a:buFont typeface="Calibri"/>
              <a:buNone/>
            </a:pPr>
            <a:r>
              <a:rPr b="1" lang="en-GB" sz="1050">
                <a:solidFill>
                  <a:srgbClr val="B84A3C"/>
                </a:solidFill>
                <a:latin typeface="Calibri"/>
                <a:ea typeface="Calibri"/>
                <a:cs typeface="Calibri"/>
                <a:sym typeface="Calibri"/>
              </a:rPr>
              <a:t>+0.23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7589520" y="193852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4A3C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B84A3C"/>
                </a:solidFill>
                <a:latin typeface="Calibri"/>
                <a:ea typeface="Calibri"/>
                <a:cs typeface="Calibri"/>
                <a:sym typeface="Calibri"/>
              </a:rPr>
              <a:t>↑ risk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4937760" y="2286000"/>
            <a:ext cx="3474720" cy="32004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5"/>
          <p:cNvSpPr/>
          <p:nvPr/>
        </p:nvSpPr>
        <p:spPr>
          <a:xfrm>
            <a:off x="5029200" y="23042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Tenure (0.8 yrs)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6858000" y="230428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4A3C"/>
              </a:buClr>
              <a:buSzPts val="1050"/>
              <a:buFont typeface="Calibri"/>
              <a:buNone/>
            </a:pPr>
            <a:r>
              <a:rPr b="1" lang="en-GB" sz="1050">
                <a:solidFill>
                  <a:srgbClr val="B84A3C"/>
                </a:solidFill>
                <a:latin typeface="Calibri"/>
                <a:ea typeface="Calibri"/>
                <a:cs typeface="Calibri"/>
                <a:sym typeface="Calibri"/>
              </a:rPr>
              <a:t>+0.18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7589520" y="230428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4A3C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B84A3C"/>
                </a:solidFill>
                <a:latin typeface="Calibri"/>
                <a:ea typeface="Calibri"/>
                <a:cs typeface="Calibri"/>
                <a:sym typeface="Calibri"/>
              </a:rPr>
              <a:t>↑ risk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4937760" y="2651760"/>
            <a:ext cx="3474720" cy="320040"/>
          </a:xfrm>
          <a:prstGeom prst="rect">
            <a:avLst/>
          </a:prstGeom>
          <a:solidFill>
            <a:srgbClr val="FFF8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5029200" y="26700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Engagement (2.1/5)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6858000" y="26700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4A3C"/>
              </a:buClr>
              <a:buSzPts val="1050"/>
              <a:buFont typeface="Calibri"/>
              <a:buNone/>
            </a:pPr>
            <a:r>
              <a:rPr b="1" lang="en-GB" sz="1050">
                <a:solidFill>
                  <a:srgbClr val="B84A3C"/>
                </a:solidFill>
                <a:latin typeface="Calibri"/>
                <a:ea typeface="Calibri"/>
                <a:cs typeface="Calibri"/>
                <a:sym typeface="Calibri"/>
              </a:rPr>
              <a:t>+0.12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7589520" y="267004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4A3C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B84A3C"/>
                </a:solidFill>
                <a:latin typeface="Calibri"/>
                <a:ea typeface="Calibri"/>
                <a:cs typeface="Calibri"/>
                <a:sym typeface="Calibri"/>
              </a:rPr>
              <a:t>↑ risk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4937760" y="3017520"/>
            <a:ext cx="3474720" cy="320040"/>
          </a:xfrm>
          <a:prstGeom prst="rect">
            <a:avLst/>
          </a:prstGeom>
          <a:solidFill>
            <a:srgbClr val="F0F5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5029200" y="30358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6858000" y="30358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F5E"/>
              </a:buClr>
              <a:buSzPts val="1050"/>
              <a:buFont typeface="Calibri"/>
              <a:buNone/>
            </a:pPr>
            <a:r>
              <a:rPr b="1" lang="en-GB" sz="1050">
                <a:solidFill>
                  <a:srgbClr val="6B8F5E"/>
                </a:solidFill>
                <a:latin typeface="Calibri"/>
                <a:ea typeface="Calibri"/>
                <a:cs typeface="Calibri"/>
                <a:sym typeface="Calibri"/>
              </a:rPr>
              <a:t>−0.05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7589520" y="303580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8F5E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8F5E"/>
                </a:solidFill>
                <a:latin typeface="Calibri"/>
                <a:ea typeface="Calibri"/>
                <a:cs typeface="Calibri"/>
                <a:sym typeface="Calibri"/>
              </a:rPr>
              <a:t>↓ risk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4937750" y="3520453"/>
            <a:ext cx="3474600" cy="95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4937750" y="3520453"/>
            <a:ext cx="54900" cy="95310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5120640" y="356616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000"/>
              <a:buFont typeface="Georgia"/>
              <a:buNone/>
            </a:pPr>
            <a:r>
              <a:rPr b="1" lang="en-GB" sz="1000">
                <a:solidFill>
                  <a:srgbClr val="4A6FA5"/>
                </a:solidFill>
                <a:latin typeface="Georgia"/>
                <a:ea typeface="Georgia"/>
                <a:cs typeface="Georgia"/>
                <a:sym typeface="Georgia"/>
              </a:rPr>
              <a:t>What we tell the stakeholders: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120650" y="3794750"/>
            <a:ext cx="31089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50"/>
              <a:buFont typeface="Calibri"/>
              <a:buNone/>
            </a:pPr>
            <a:r>
              <a:rPr b="1" i="1" lang="en-GB"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"This employee is at risk because their salary is 22% below department average, no progression after 0.8 years, and engagement is critically low."</a:t>
            </a:r>
            <a:endParaRPr b="1"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Georgia"/>
              <a:buNone/>
            </a:pPr>
            <a:r>
              <a:rPr b="1" lang="en-GB" sz="28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Compliance &amp; ethics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AI Act, fairness, GDPR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548640" y="1143000"/>
            <a:ext cx="1645920" cy="2743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48640" y="1417320"/>
            <a:ext cx="384048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548640" y="1417320"/>
            <a:ext cx="54864" cy="1554480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777240" y="15087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400"/>
              <a:buFont typeface="Georgia"/>
              <a:buNone/>
            </a:pPr>
            <a:r>
              <a:rPr b="1" lang="en-GB" sz="14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AI Act — High Risk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777240" y="1874520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TalentGuard is Annex III (employment domain). Human oversight is mandatory. The tool supports decisions — it never makes them autonomously.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4754880" y="1417320"/>
            <a:ext cx="3840480" cy="1554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4754880" y="1417320"/>
            <a:ext cx="54864" cy="1554480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4983480" y="15087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1400"/>
              <a:buFont typeface="Georgia"/>
              <a:buNone/>
            </a:pPr>
            <a:r>
              <a:rPr b="1" lang="en-GB" sz="1400">
                <a:solidFill>
                  <a:srgbClr val="4A6FA5"/>
                </a:solidFill>
                <a:latin typeface="Georgia"/>
                <a:ea typeface="Georgia"/>
                <a:cs typeface="Georgia"/>
                <a:sym typeface="Georgia"/>
              </a:rPr>
              <a:t>Algorithmic fairness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4983480" y="1874520"/>
            <a:ext cx="3383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Disparate Impact audit (4/5 rule) on Gender and Race. Sensitive attributes are structurally excluded from model inputs — used only in a separate bias check.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548640" y="3246120"/>
            <a:ext cx="804672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731520" y="331012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Georgia"/>
              <a:buNone/>
            </a:pPr>
            <a:r>
              <a:rPr b="1" lang="en-GB" sz="13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Article 13 checklist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731520" y="365760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5E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8F5E"/>
                </a:solidFill>
                <a:latin typeface="Calibri"/>
                <a:ea typeface="Calibri"/>
                <a:cs typeface="Calibri"/>
                <a:sym typeface="Calibri"/>
              </a:rPr>
              <a:t>✓  Model Card + Data Card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731520" y="390448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5E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8F5E"/>
                </a:solidFill>
                <a:latin typeface="Calibri"/>
                <a:ea typeface="Calibri"/>
                <a:cs typeface="Calibri"/>
                <a:sym typeface="Calibri"/>
              </a:rPr>
              <a:t>✓  SHAP explanations (global + local)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731520" y="415137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5E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8F5E"/>
                </a:solidFill>
                <a:latin typeface="Calibri"/>
                <a:ea typeface="Calibri"/>
                <a:cs typeface="Calibri"/>
                <a:sym typeface="Calibri"/>
              </a:rPr>
              <a:t>✓  Fairness audit (Gender, Race)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731520" y="439826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5E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8F5E"/>
                </a:solidFill>
                <a:latin typeface="Calibri"/>
                <a:ea typeface="Calibri"/>
                <a:cs typeface="Calibri"/>
                <a:sym typeface="Calibri"/>
              </a:rPr>
              <a:t>✓  Human oversight 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4572000" y="365760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5E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8F5E"/>
                </a:solidFill>
                <a:latin typeface="Calibri"/>
                <a:ea typeface="Calibri"/>
                <a:cs typeface="Calibri"/>
                <a:sym typeface="Calibri"/>
              </a:rPr>
              <a:t>✓  Data anonymization (SHA-256)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4572000" y="3904488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F5E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8F5E"/>
                </a:solidFill>
                <a:latin typeface="Calibri"/>
                <a:ea typeface="Calibri"/>
                <a:cs typeface="Calibri"/>
                <a:sym typeface="Calibri"/>
              </a:rPr>
              <a:t>✓  Fully offline — no cloud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4572000" y="415137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C4633F"/>
                </a:solidFill>
                <a:latin typeface="Calibri"/>
                <a:ea typeface="Calibri"/>
                <a:cs typeface="Calibri"/>
                <a:sym typeface="Calibri"/>
              </a:rPr>
              <a:t>△  Temporal validation (needs prod data)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7"/>
          <p:cNvSpPr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Georgia"/>
              <a:buNone/>
            </a:pPr>
            <a:r>
              <a:rPr b="1" lang="en-GB" sz="28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The dashboard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Built with Streamlit — for HR, not data scientists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548640" y="1143000"/>
            <a:ext cx="1645920" cy="27432"/>
          </a:xfrm>
          <a:prstGeom prst="rect">
            <a:avLst/>
          </a:prstGeom>
          <a:solidFill>
            <a:srgbClr val="C463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7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548640" y="1638021"/>
            <a:ext cx="2560200" cy="201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7"/>
          <p:cNvSpPr/>
          <p:nvPr/>
        </p:nvSpPr>
        <p:spPr>
          <a:xfrm>
            <a:off x="731520" y="1729461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400"/>
              <a:buFont typeface="Georgia"/>
              <a:buNone/>
            </a:pPr>
            <a:r>
              <a:rPr b="1" lang="en-GB" sz="14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Risk overview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731520" y="2140941"/>
            <a:ext cx="219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KPIs, top 15 at-risk employees,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turnover by department.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One glance = full picture.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3383280" y="1638021"/>
            <a:ext cx="2560200" cy="201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7"/>
          <p:cNvSpPr/>
          <p:nvPr/>
        </p:nvSpPr>
        <p:spPr>
          <a:xfrm>
            <a:off x="3566160" y="1729461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400"/>
              <a:buFont typeface="Georgia"/>
              <a:buNone/>
            </a:pPr>
            <a:r>
              <a:rPr b="1" lang="en-GB" sz="14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Employee profile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3566160" y="2140941"/>
            <a:ext cx="219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Individual risk score,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top SHAP factors,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plain-language explanation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+ recommended actions.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6217920" y="1638021"/>
            <a:ext cx="2560200" cy="2011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7"/>
          <p:cNvSpPr/>
          <p:nvPr/>
        </p:nvSpPr>
        <p:spPr>
          <a:xfrm>
            <a:off x="6400800" y="1729461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400"/>
              <a:buFont typeface="Georgia"/>
              <a:buNone/>
            </a:pPr>
            <a:r>
              <a:rPr b="1" lang="en-GB" sz="14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AI transparency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6400800" y="2140941"/>
            <a:ext cx="2194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Model comparison table,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fairness audit results,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GDPR measures,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Model Card + Data Card.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548640" y="3969741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633F"/>
              </a:buClr>
              <a:buSzPts val="1400"/>
              <a:buFont typeface="Georgia"/>
              <a:buNone/>
            </a:pPr>
            <a:r>
              <a:rPr b="1" i="1" lang="en-GB" sz="14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→  Live demo follows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/>
          <p:nvPr/>
        </p:nvSpPr>
        <p:spPr>
          <a:xfrm>
            <a:off x="548640" y="3200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800"/>
              <a:buFont typeface="Georgia"/>
              <a:buNone/>
            </a:pPr>
            <a:r>
              <a:rPr b="1" lang="en-GB" sz="2800">
                <a:solidFill>
                  <a:srgbClr val="2B2B2B"/>
                </a:solidFill>
                <a:latin typeface="Georgia"/>
                <a:ea typeface="Georgia"/>
                <a:cs typeface="Georgia"/>
                <a:sym typeface="Georgia"/>
              </a:rPr>
              <a:t>What we'd improve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548640" y="8229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Limitations and next steps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548640" y="1143000"/>
            <a:ext cx="1645920" cy="27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8412480" y="47091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548640" y="1417320"/>
            <a:ext cx="384048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8"/>
          <p:cNvSpPr/>
          <p:nvPr/>
        </p:nvSpPr>
        <p:spPr>
          <a:xfrm>
            <a:off x="548640" y="1417320"/>
            <a:ext cx="54864" cy="29260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8"/>
          <p:cNvSpPr/>
          <p:nvPr/>
        </p:nvSpPr>
        <p:spPr>
          <a:xfrm>
            <a:off x="777240" y="15087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r>
              <a:rPr b="1" lang="en-GB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Limitations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777240" y="192024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·  Synthetic data — real HR data would perform differently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777240" y="23317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·  Small dataset (~400) — variance risk despite cross-validation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777240" y="27432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·  No temporal validation — one snapshot, not longitudinal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777240" y="315468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·  NLP explored but not integrated into final pipeline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777240" y="35661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·  Binary gender in dataset limits fairness audit scope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4754880" y="1417320"/>
            <a:ext cx="384048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4CF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8"/>
          <p:cNvSpPr/>
          <p:nvPr/>
        </p:nvSpPr>
        <p:spPr>
          <a:xfrm>
            <a:off x="4754880" y="1417320"/>
            <a:ext cx="54864" cy="292608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8"/>
          <p:cNvSpPr/>
          <p:nvPr/>
        </p:nvSpPr>
        <p:spPr>
          <a:xfrm>
            <a:off x="4983480" y="15087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eorgia"/>
              <a:buNone/>
            </a:pPr>
            <a:r>
              <a:rPr b="1" lang="en-GB" sz="1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4983480" y="192024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→  Test on real anonymized HR data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8"/>
          <p:cNvSpPr/>
          <p:nvPr/>
        </p:nvSpPr>
        <p:spPr>
          <a:xfrm>
            <a:off x="4983480" y="233172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→  Track risk evolution over time (quarterly)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4983480" y="274320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→  Integrate NLP pipeline into the model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4983480" y="315468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→  Adversarial testing before any deployment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4983480" y="35661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050"/>
              <a:buFont typeface="Calibri"/>
              <a:buNone/>
            </a:pPr>
            <a:r>
              <a:rPr lang="en-GB" sz="105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→  Fairness audit at every retraining cycle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"/>
          <p:cNvSpPr/>
          <p:nvPr/>
        </p:nvSpPr>
        <p:spPr>
          <a:xfrm>
            <a:off x="1905000" y="845820"/>
            <a:ext cx="533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rgbClr val="C4633F"/>
                </a:solidFill>
                <a:latin typeface="Georgia"/>
                <a:ea typeface="Georgia"/>
                <a:cs typeface="Georgia"/>
                <a:sym typeface="Georgia"/>
              </a:rPr>
              <a:t>Thanks — questions?</a:t>
            </a:r>
            <a:endParaRPr sz="4400">
              <a:solidFill>
                <a:srgbClr val="C463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2720340" y="1780032"/>
            <a:ext cx="35280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600"/>
              <a:buFont typeface="Calibri"/>
              <a:buNone/>
            </a:pPr>
            <a:r>
              <a:rPr lang="en-GB" sz="16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Explainable, frugal AI for talent retention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3383280" y="2528316"/>
            <a:ext cx="1828800" cy="2743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9"/>
          <p:cNvSpPr/>
          <p:nvPr/>
        </p:nvSpPr>
        <p:spPr>
          <a:xfrm>
            <a:off x="2264286" y="3158916"/>
            <a:ext cx="43008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800"/>
              <a:buFont typeface="Calibri"/>
              <a:buNone/>
            </a:pPr>
            <a:r>
              <a:rPr lang="en-GB" sz="18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Alvaro  ·  Ziyad  ·  Omar  ·  Nguyen  ·  Rithiga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2" name="Google Shape;3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9880" y="393192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9"/>
          <p:cNvSpPr/>
          <p:nvPr/>
        </p:nvSpPr>
        <p:spPr>
          <a:xfrm>
            <a:off x="3124200" y="3916680"/>
            <a:ext cx="28422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1100"/>
              <a:buFont typeface="Calibri"/>
              <a:buNone/>
            </a:pPr>
            <a:r>
              <a:rPr lang="en-GB" sz="11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github.com/Alvaro5/explainability-ai-hackathon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>
            <a:off x="3185160" y="437388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560"/>
              </a:buClr>
              <a:buSzPts val="900"/>
              <a:buFont typeface="Calibri"/>
              <a:buNone/>
            </a:pPr>
            <a:r>
              <a:rPr lang="en-GB" sz="900">
                <a:solidFill>
                  <a:srgbClr val="6B6560"/>
                </a:solidFill>
                <a:latin typeface="Calibri"/>
                <a:ea typeface="Calibri"/>
                <a:cs typeface="Calibri"/>
                <a:sym typeface="Calibri"/>
              </a:rPr>
              <a:t>ESILV A4 — Trusted AI Hackathon — March 2026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